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Schibsted Grotesk"/>
      <p:regular r:id="rId15"/>
    </p:embeddedFont>
    <p:embeddedFont>
      <p:font typeface="Schibsted Grotesk"/>
      <p:regular r:id="rId16"/>
    </p:embeddedFont>
    <p:embeddedFont>
      <p:font typeface="Schibsted Grotesk"/>
      <p:regular r:id="rId17"/>
    </p:embeddedFont>
    <p:embeddedFont>
      <p:font typeface="Schibsted Grotesk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CE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2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CE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2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CE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2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CE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2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CE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2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CE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2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CE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2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CE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2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08881"/>
            <a:ext cx="8151763" cy="1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Найдите Идеальный Отель</a:t>
            </a:r>
            <a:endParaRPr lang="en-US" sz="6100" dirty="0"/>
          </a:p>
        </p:txBody>
      </p:sp>
      <p:sp>
        <p:nvSpPr>
          <p:cNvPr id="3" name="Shape 1"/>
          <p:cNvSpPr/>
          <p:nvPr/>
        </p:nvSpPr>
        <p:spPr>
          <a:xfrm>
            <a:off x="496119" y="3497461"/>
            <a:ext cx="1038523" cy="232395"/>
          </a:xfrm>
          <a:prstGeom prst="roundRect">
            <a:avLst>
              <a:gd name="adj" fmla="val 43922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81174" y="3539951"/>
            <a:ext cx="1325612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ПОИСК ОТЕЛЕЙ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605483" y="3492698"/>
            <a:ext cx="1028923" cy="241920"/>
          </a:xfrm>
          <a:prstGeom prst="roundRect">
            <a:avLst>
              <a:gd name="adj" fmla="val 42193"/>
            </a:avLst>
          </a:prstGeom>
          <a:noFill/>
          <a:ln w="4763">
            <a:solidFill>
              <a:srgbClr val="4674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95301" y="3539951"/>
            <a:ext cx="1306488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ЛУЧШИЕ ЦЕНЫ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00510"/>
            <a:ext cx="783282" cy="232395"/>
          </a:xfrm>
          <a:prstGeom prst="roundRect">
            <a:avLst>
              <a:gd name="adj" fmla="val 43922"/>
            </a:avLst>
          </a:prstGeom>
          <a:solidFill>
            <a:srgbClr val="0B1B42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143000"/>
            <a:ext cx="1070372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О СЕРВИСЕ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389608"/>
            <a:ext cx="7470056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Умный Поиск Отелей по Всему Миру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496119" y="2069976"/>
            <a:ext cx="815176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Наш сайт помогает путешественникам найти идеальный отель за считанные минуты. Мы сравниваем тысячи предложений от ведущих платформ бронирования, чтобы вы всегда получали лучшую цену и условия проживания.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2597944"/>
            <a:ext cx="860896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7069" y="2941662"/>
            <a:ext cx="2637234" cy="38100"/>
          </a:xfrm>
          <a:prstGeom prst="rect">
            <a:avLst/>
          </a:prstGeom>
          <a:solidFill>
            <a:srgbClr val="4674E1"/>
          </a:solidFill>
          <a:ln/>
        </p:spPr>
      </p:sp>
      <p:sp>
        <p:nvSpPr>
          <p:cNvPr id="8" name="Text 6"/>
          <p:cNvSpPr/>
          <p:nvPr/>
        </p:nvSpPr>
        <p:spPr>
          <a:xfrm>
            <a:off x="496119" y="3121521"/>
            <a:ext cx="240647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Миллионы отелей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6119" y="3440534"/>
            <a:ext cx="2599134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Более 2 миллионов объектов размещения в 200+ странах мира.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53383" y="2941662"/>
            <a:ext cx="2637234" cy="38100"/>
          </a:xfrm>
          <a:prstGeom prst="rect">
            <a:avLst/>
          </a:prstGeom>
          <a:solidFill>
            <a:srgbClr val="8FADEB"/>
          </a:solidFill>
          <a:ln/>
        </p:spPr>
      </p:sp>
      <p:sp>
        <p:nvSpPr>
          <p:cNvPr id="11" name="Text 9"/>
          <p:cNvSpPr/>
          <p:nvPr/>
        </p:nvSpPr>
        <p:spPr>
          <a:xfrm>
            <a:off x="3272433" y="3121521"/>
            <a:ext cx="240647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Лучшие цены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72433" y="3440534"/>
            <a:ext cx="259913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Сравниваем цены на ведущих платформах и находим самые выгодные предложения.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9697" y="2941662"/>
            <a:ext cx="2637234" cy="38100"/>
          </a:xfrm>
          <a:prstGeom prst="rect">
            <a:avLst/>
          </a:prstGeom>
          <a:solidFill>
            <a:srgbClr val="DCE6F8"/>
          </a:solidFill>
          <a:ln/>
        </p:spPr>
      </p:sp>
      <p:sp>
        <p:nvSpPr>
          <p:cNvPr id="14" name="Text 12"/>
          <p:cNvSpPr/>
          <p:nvPr/>
        </p:nvSpPr>
        <p:spPr>
          <a:xfrm>
            <a:off x="6048747" y="3121521"/>
            <a:ext cx="2599134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Мгновенное бронирование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48747" y="3674492"/>
            <a:ext cx="2599134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Бронируйте отели без комиссий напрямую с нашего сайта.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37654"/>
            <a:ext cx="1100956" cy="232395"/>
          </a:xfrm>
          <a:prstGeom prst="roundRect">
            <a:avLst>
              <a:gd name="adj" fmla="val 43922"/>
            </a:avLst>
          </a:prstGeom>
          <a:solidFill>
            <a:srgbClr val="0B1B42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680145"/>
            <a:ext cx="1388046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ПРЕИМУЩЕСТВА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26753"/>
            <a:ext cx="4793977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Почему Выбирают Нас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496119" y="1607121"/>
            <a:ext cx="815176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Мы создали сервис, который делает поиск и бронирование отелей максимально удобным и выгодным для каждого путешественника. Вот что отличает нас от конкурентов.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2135088"/>
            <a:ext cx="860896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7069" y="2459757"/>
            <a:ext cx="38100" cy="909861"/>
          </a:xfrm>
          <a:prstGeom prst="rect">
            <a:avLst/>
          </a:prstGeom>
          <a:solidFill>
            <a:srgbClr val="4674E1"/>
          </a:solidFill>
          <a:ln/>
        </p:spPr>
      </p:sp>
      <p:sp>
        <p:nvSpPr>
          <p:cNvPr id="8" name="Text 6"/>
          <p:cNvSpPr/>
          <p:nvPr/>
        </p:nvSpPr>
        <p:spPr>
          <a:xfrm>
            <a:off x="675977" y="2478807"/>
            <a:ext cx="240647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Умные фильтры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5977" y="2797820"/>
            <a:ext cx="3807396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Настраивайте поиск по цене, звёздности, расстоянию до центра, типу питания и десяткам других параметров.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41503" y="2459757"/>
            <a:ext cx="38100" cy="909861"/>
          </a:xfrm>
          <a:prstGeom prst="rect">
            <a:avLst/>
          </a:prstGeom>
          <a:solidFill>
            <a:srgbClr val="8FADEB"/>
          </a:solidFill>
          <a:ln/>
        </p:spPr>
      </p:sp>
      <p:sp>
        <p:nvSpPr>
          <p:cNvPr id="11" name="Text 9"/>
          <p:cNvSpPr/>
          <p:nvPr/>
        </p:nvSpPr>
        <p:spPr>
          <a:xfrm>
            <a:off x="4840412" y="2478807"/>
            <a:ext cx="240647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Реальные отзывы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0412" y="2797820"/>
            <a:ext cx="3807470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Тысячи проверенных отзывов от реальных гостей помогут сделать правильный выбор.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7069" y="3615035"/>
            <a:ext cx="38100" cy="909861"/>
          </a:xfrm>
          <a:prstGeom prst="rect">
            <a:avLst/>
          </a:prstGeom>
          <a:solidFill>
            <a:srgbClr val="DCE6F8"/>
          </a:solidFill>
          <a:ln/>
        </p:spPr>
      </p:sp>
      <p:sp>
        <p:nvSpPr>
          <p:cNvPr id="14" name="Text 12"/>
          <p:cNvSpPr/>
          <p:nvPr/>
        </p:nvSpPr>
        <p:spPr>
          <a:xfrm>
            <a:off x="675977" y="3634085"/>
            <a:ext cx="240647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Карты и маршруты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5977" y="3953098"/>
            <a:ext cx="3807396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Интерактивные карты позволяют оценить расположение отеля относительно достопримечательностей и инфраструктуры.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1503" y="3615035"/>
            <a:ext cx="38100" cy="90986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840412" y="3634085"/>
            <a:ext cx="240647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Поддержка 24/7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0412" y="3953098"/>
            <a:ext cx="3807470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Наша служба поддержки готова помочь вам в любое время суток на русском языке.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33698"/>
            <a:ext cx="1216447" cy="232395"/>
          </a:xfrm>
          <a:prstGeom prst="roundRect">
            <a:avLst>
              <a:gd name="adj" fmla="val 43922"/>
            </a:avLst>
          </a:prstGeom>
          <a:solidFill>
            <a:srgbClr val="0B1B42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76188"/>
            <a:ext cx="1503536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КАК ЭТО РАБОТАЕТ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22796"/>
            <a:ext cx="435880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Найти Отель Просто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496119" y="1503164"/>
            <a:ext cx="815176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Всего четыре шага отделяют вас от идеального места для отдыха. Наш удобный интерфейс проведёт вас через весь процесс бронирования.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31132"/>
            <a:ext cx="8151763" cy="22348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78791" y="2838709"/>
            <a:ext cx="1231850" cy="465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Введите параметры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78791" y="3367082"/>
            <a:ext cx="1231850" cy="882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Укажите город, даты заезда и выезда, количество гостей.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41353" y="2302494"/>
            <a:ext cx="1231850" cy="465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Сравните варианты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141353" y="2830867"/>
            <a:ext cx="1231850" cy="705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Просматривайте отели с фото, ценами и отзывами.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35284" y="2838709"/>
            <a:ext cx="1231850" cy="465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Выберите отель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835284" y="3367082"/>
            <a:ext cx="1231850" cy="882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Добавляйте понравившиеся варианты в избранное и сравнивайте их.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13530" y="2126042"/>
            <a:ext cx="1231849" cy="465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Забронируйте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513530" y="2654416"/>
            <a:ext cx="1231849" cy="882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Оформите бронирование онлайн за несколько кликов.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6119" y="4425479"/>
            <a:ext cx="860896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Бронирование занимает не более 5 минут — от первого поиска до подтверждения на вашу электронную почту.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34951"/>
            <a:ext cx="1294879" cy="232395"/>
          </a:xfrm>
          <a:prstGeom prst="roundRect">
            <a:avLst>
              <a:gd name="adj" fmla="val 43922"/>
            </a:avLst>
          </a:prstGeom>
          <a:solidFill>
            <a:srgbClr val="0B1B42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077441"/>
            <a:ext cx="1581969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КАТЕГОРИИ ОТЕЛЕЙ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324049"/>
            <a:ext cx="6461522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Отели на Любой Вкус и Бюджет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496119" y="2004417"/>
            <a:ext cx="815176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Мы предлагаем широкий выбор объектов размещения — от бюджетных хостелов до роскошных пятизвёздочных курортов. Каждый путешественник найдёт подходящий вариант.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7069" y="2532385"/>
            <a:ext cx="2637234" cy="38100"/>
          </a:xfrm>
          <a:prstGeom prst="rect">
            <a:avLst/>
          </a:prstGeom>
          <a:solidFill>
            <a:srgbClr val="4674E1"/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2712244"/>
            <a:ext cx="30563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50" dirty="0">
                <a:solidFill>
                  <a:srgbClr val="4674E1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★★★★★</a:t>
            </a:r>
            <a:endParaRPr lang="en-US" sz="3050" dirty="0"/>
          </a:p>
        </p:txBody>
      </p:sp>
      <p:sp>
        <p:nvSpPr>
          <p:cNvPr id="8" name="Text 6"/>
          <p:cNvSpPr/>
          <p:nvPr/>
        </p:nvSpPr>
        <p:spPr>
          <a:xfrm>
            <a:off x="496119" y="3236714"/>
            <a:ext cx="240647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Люкс и Бизнес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6119" y="3555727"/>
            <a:ext cx="259913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Роскошные отели с премиум-сервисом, спа и ресторанами высокой кухни.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53383" y="2532385"/>
            <a:ext cx="2637234" cy="38100"/>
          </a:xfrm>
          <a:prstGeom prst="rect">
            <a:avLst/>
          </a:prstGeom>
          <a:solidFill>
            <a:srgbClr val="203876"/>
          </a:solidFill>
          <a:ln/>
        </p:spPr>
      </p:sp>
      <p:sp>
        <p:nvSpPr>
          <p:cNvPr id="11" name="Text 9"/>
          <p:cNvSpPr/>
          <p:nvPr/>
        </p:nvSpPr>
        <p:spPr>
          <a:xfrm>
            <a:off x="3272433" y="2712244"/>
            <a:ext cx="30563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50" dirty="0">
                <a:solidFill>
                  <a:srgbClr val="8FADEB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★★★★</a:t>
            </a:r>
            <a:endParaRPr lang="en-US" sz="3050" dirty="0"/>
          </a:p>
        </p:txBody>
      </p:sp>
      <p:sp>
        <p:nvSpPr>
          <p:cNvPr id="12" name="Text 10"/>
          <p:cNvSpPr/>
          <p:nvPr/>
        </p:nvSpPr>
        <p:spPr>
          <a:xfrm>
            <a:off x="3272433" y="3236714"/>
            <a:ext cx="240647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Комфорт-класс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72433" y="3555727"/>
            <a:ext cx="259913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Комфортабельные отели с отличным соотношением цены и качества для семей и пар.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29697" y="2532385"/>
            <a:ext cx="2637234" cy="38100"/>
          </a:xfrm>
          <a:prstGeom prst="rect">
            <a:avLst/>
          </a:prstGeom>
          <a:solidFill>
            <a:srgbClr val="DCE6F8"/>
          </a:solidFill>
          <a:ln/>
        </p:spPr>
      </p:sp>
      <p:sp>
        <p:nvSpPr>
          <p:cNvPr id="15" name="Text 13"/>
          <p:cNvSpPr/>
          <p:nvPr/>
        </p:nvSpPr>
        <p:spPr>
          <a:xfrm>
            <a:off x="6048747" y="2712244"/>
            <a:ext cx="30563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★★★</a:t>
            </a:r>
            <a:endParaRPr lang="en-US" sz="3050" dirty="0"/>
          </a:p>
        </p:txBody>
      </p:sp>
      <p:sp>
        <p:nvSpPr>
          <p:cNvPr id="16" name="Text 14"/>
          <p:cNvSpPr/>
          <p:nvPr/>
        </p:nvSpPr>
        <p:spPr>
          <a:xfrm>
            <a:off x="6048747" y="3236714"/>
            <a:ext cx="240647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Эконом и Бюджет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48747" y="3555727"/>
            <a:ext cx="259913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Доступные гостиницы и хостелы для активных путешественников и туристов.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79971"/>
            <a:ext cx="840581" cy="217215"/>
          </a:xfrm>
          <a:prstGeom prst="roundRect">
            <a:avLst>
              <a:gd name="adj" fmla="val 44642"/>
            </a:avLst>
          </a:prstGeom>
          <a:solidFill>
            <a:srgbClr val="0B1B42"/>
          </a:solidFill>
          <a:ln/>
        </p:spPr>
      </p:sp>
      <p:sp>
        <p:nvSpPr>
          <p:cNvPr id="3" name="Text 1"/>
          <p:cNvSpPr/>
          <p:nvPr/>
        </p:nvSpPr>
        <p:spPr>
          <a:xfrm>
            <a:off x="576858" y="520303"/>
            <a:ext cx="1136303" cy="136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СТАТИСТИКА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748308"/>
            <a:ext cx="5174233" cy="444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Нам Доверяют Миллионы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6119" y="1243831"/>
            <a:ext cx="3041898" cy="22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Цифры говорят сами за себя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96119" y="1657945"/>
            <a:ext cx="8151763" cy="341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Каждый день тысячи путешественников из России и всего мира используют наш сервис для поиска и бронирования отелей. Наша платформа продолжает расти и улучшаться.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143274"/>
            <a:ext cx="7742039" cy="25202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62955"/>
            <a:ext cx="1204466" cy="232395"/>
          </a:xfrm>
          <a:prstGeom prst="roundRect">
            <a:avLst>
              <a:gd name="adj" fmla="val 43922"/>
            </a:avLst>
          </a:prstGeom>
          <a:solidFill>
            <a:srgbClr val="0B1B42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705445"/>
            <a:ext cx="1491555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ДОПОЛНИТЕЛЬНО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52054"/>
            <a:ext cx="81300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Дополнительные Возможности Сервиса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496119" y="1632421"/>
            <a:ext cx="815176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Помимо поиска отелей, наша платформа предлагает широкий набор инструментов, которые сделают вашу поездку ещё удобнее и приятнее.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195810"/>
            <a:ext cx="8151763" cy="10567"/>
          </a:xfrm>
          <a:prstGeom prst="rect">
            <a:avLst/>
          </a:prstGeom>
          <a:solidFill>
            <a:srgbClr val="DCE6F8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2454399"/>
            <a:ext cx="48934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Специальные функции для путешественников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6119" y="2900958"/>
            <a:ext cx="815176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Используйте уведомления о снижении цен, программу лояльности и персональные рекомендации на основе ваших предпочтений.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7069" y="3428926"/>
            <a:ext cx="2637234" cy="38100"/>
          </a:xfrm>
          <a:prstGeom prst="rect">
            <a:avLst/>
          </a:prstGeom>
          <a:solidFill>
            <a:srgbClr val="DCE6F8"/>
          </a:solidFill>
          <a:ln/>
        </p:spPr>
      </p:sp>
      <p:sp>
        <p:nvSpPr>
          <p:cNvPr id="10" name="Text 8"/>
          <p:cNvSpPr/>
          <p:nvPr/>
        </p:nvSpPr>
        <p:spPr>
          <a:xfrm>
            <a:off x="496119" y="3608784"/>
            <a:ext cx="252851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Уведомления о ценах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6119" y="3927797"/>
            <a:ext cx="2599134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Получайте оповещения, когда цены на выбранные отели снизятся.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53383" y="3428926"/>
            <a:ext cx="2637234" cy="38100"/>
          </a:xfrm>
          <a:prstGeom prst="rect">
            <a:avLst/>
          </a:prstGeom>
          <a:solidFill>
            <a:srgbClr val="8FADEB"/>
          </a:solidFill>
          <a:ln/>
        </p:spPr>
      </p:sp>
      <p:sp>
        <p:nvSpPr>
          <p:cNvPr id="13" name="Text 11"/>
          <p:cNvSpPr/>
          <p:nvPr/>
        </p:nvSpPr>
        <p:spPr>
          <a:xfrm>
            <a:off x="3272433" y="3608784"/>
            <a:ext cx="270353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Программа лояльности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72433" y="3927797"/>
            <a:ext cx="259913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Накапливайте бонусные баллы за каждое бронирование и получайте скидки.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9697" y="3428926"/>
            <a:ext cx="2637234" cy="38100"/>
          </a:xfrm>
          <a:prstGeom prst="rect">
            <a:avLst/>
          </a:prstGeom>
          <a:solidFill>
            <a:srgbClr val="4674E1"/>
          </a:solidFill>
          <a:ln/>
        </p:spPr>
      </p:sp>
      <p:sp>
        <p:nvSpPr>
          <p:cNvPr id="16" name="Text 14"/>
          <p:cNvSpPr/>
          <p:nvPr/>
        </p:nvSpPr>
        <p:spPr>
          <a:xfrm>
            <a:off x="6048747" y="3608784"/>
            <a:ext cx="240647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Персонализация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48747" y="3927797"/>
            <a:ext cx="259913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Рекомендации отелей на основе ваших прошлых поездок и пожеланий.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75915"/>
            <a:ext cx="772716" cy="232395"/>
          </a:xfrm>
          <a:prstGeom prst="roundRect">
            <a:avLst>
              <a:gd name="adj" fmla="val 43922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818406"/>
            <a:ext cx="1059805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КОНТАКТЫ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65014"/>
            <a:ext cx="4355753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50" dirty="0">
                <a:solidFill>
                  <a:srgbClr val="DCE6F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Свяжитесь с Нами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496119" y="1745382"/>
            <a:ext cx="815176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Есть вопросы или нужна помощь с бронированием? Наша команда поддержки всегда готова помочь вам найти идеальный отель и оформить заявку.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2273350"/>
            <a:ext cx="860896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7069" y="2598018"/>
            <a:ext cx="38100" cy="5413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75977" y="2617068"/>
            <a:ext cx="240647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Электронная почта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5977" y="2936081"/>
            <a:ext cx="2876476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support@hotelSearch.ru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53383" y="2598018"/>
            <a:ext cx="38100" cy="5413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452292" y="2617068"/>
            <a:ext cx="240647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Сайт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52292" y="2936081"/>
            <a:ext cx="2876476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www.hotelSearch.ru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9697" y="2598018"/>
            <a:ext cx="38100" cy="5413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228606" y="2617068"/>
            <a:ext cx="240647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Социальные сети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28606" y="2936081"/>
            <a:ext cx="2876476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@hotelSearch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119" y="3279800"/>
            <a:ext cx="860896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6119" y="3623518"/>
            <a:ext cx="8151763" cy="744066"/>
          </a:xfrm>
          <a:prstGeom prst="roundRect">
            <a:avLst>
              <a:gd name="adj" fmla="val 17148"/>
            </a:avLst>
          </a:prstGeom>
          <a:solidFill>
            <a:srgbClr val="203876"/>
          </a:solidFill>
          <a:ln/>
        </p:spPr>
      </p:sp>
      <p:sp>
        <p:nvSpPr>
          <p:cNvPr id="18" name="Text 16"/>
          <p:cNvSpPr/>
          <p:nvPr/>
        </p:nvSpPr>
        <p:spPr>
          <a:xfrm>
            <a:off x="637877" y="3800698"/>
            <a:ext cx="7868245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Мы работаем круглосуточно, 7 дней в неделю. Среднее время ответа на запрос — менее 5 минут. Ваш комфортный отдых — наша главная цель.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2026-05-18T16:21:04Z</dcterms:created>
  <dcterms:modified xsi:type="dcterms:W3CDTF">2026-05-18T16:21:04Z</dcterms:modified>
</cp:coreProperties>
</file>