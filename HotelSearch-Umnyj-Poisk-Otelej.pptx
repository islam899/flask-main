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embeddedFontLst>
    <p:embeddedFont>
      <p:font typeface="Schibsted Grotesk"/>
      <p:regular r:id="rId14"/>
    </p:embeddedFont>
    <p:embeddedFont>
      <p:font typeface="Schibsted Grotesk"/>
      <p:regular r:id="rId15"/>
    </p:embeddedFont>
    <p:embeddedFont>
      <p:font typeface="Schibsted Grotesk"/>
      <p:regular r:id="rId16"/>
    </p:embeddedFont>
    <p:embeddedFont>
      <p:font typeface="Schibsted Grotesk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CE6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2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CE6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2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CE6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2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CE6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2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CE6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2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CE6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2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CE6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2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7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8.xml"/><Relationship Id="rId10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4069" y="2116410"/>
            <a:ext cx="6907188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HotelSearch - Умный Поиск Отелей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267519" y="2796778"/>
            <a:ext cx="8380363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Инновационная платформа для поиска и бронирования отелей по всему миру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528786"/>
            <a:ext cx="6652915" cy="460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Проблема: Хаос в Поиске Отелей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88379" y="1263997"/>
            <a:ext cx="8167241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0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Современный процесс бронирования отелей часто превращается в утомительное испытание, отнимающее время и нервы. Мы выявили ключевые сложности, с которыми сталкиваются путешественники: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88379" y="1778347"/>
            <a:ext cx="4014936" cy="1349499"/>
          </a:xfrm>
          <a:prstGeom prst="roundRect">
            <a:avLst>
              <a:gd name="adj" fmla="val 9307"/>
            </a:avLst>
          </a:prstGeom>
          <a:solidFill>
            <a:srgbClr val="09122B"/>
          </a:solidFill>
          <a:ln w="19050">
            <a:solidFill>
              <a:srgbClr val="4674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6956" y="1936924"/>
            <a:ext cx="3077245" cy="230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Фрагментированный Поиск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6956" y="2249537"/>
            <a:ext cx="3697784" cy="5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0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Сотни сайтов, тысячи предложений – поиск идеального отеля требует посещения десятков платформ, что усложняет сравнение и выбор.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40684" y="1778347"/>
            <a:ext cx="4014936" cy="1349499"/>
          </a:xfrm>
          <a:prstGeom prst="roundRect">
            <a:avLst>
              <a:gd name="adj" fmla="val 9307"/>
            </a:avLst>
          </a:prstGeom>
          <a:solidFill>
            <a:srgbClr val="09122B"/>
          </a:solidFill>
          <a:ln w="19050">
            <a:solidFill>
              <a:srgbClr val="2038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99261" y="1936924"/>
            <a:ext cx="2442716" cy="230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Непрозрачность Цен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99261" y="2249537"/>
            <a:ext cx="3697784" cy="7197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0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Цены на один и тот же номер могут значительно отличаться на разных сервисах, и найти лучшее предложение без детального анализа почти невозможно.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8379" y="3265215"/>
            <a:ext cx="4014936" cy="1349499"/>
          </a:xfrm>
          <a:prstGeom prst="roundRect">
            <a:avLst>
              <a:gd name="adj" fmla="val 9307"/>
            </a:avLst>
          </a:prstGeom>
          <a:solidFill>
            <a:srgbClr val="09122B"/>
          </a:solidFill>
          <a:ln w="19050">
            <a:solidFill>
              <a:srgbClr val="DCE6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956" y="3423791"/>
            <a:ext cx="4109740" cy="230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Недостаток Достоверной Информации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6956" y="3736404"/>
            <a:ext cx="3697784" cy="7197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0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Часто описания и фотографии отелей не соответствуют действительности, а отзывы разрознены и не всегда объективны, что затрудняет принятие решения.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40684" y="3265215"/>
            <a:ext cx="4014936" cy="1349499"/>
          </a:xfrm>
          <a:prstGeom prst="roundRect">
            <a:avLst>
              <a:gd name="adj" fmla="val 9307"/>
            </a:avLst>
          </a:prstGeom>
          <a:solidFill>
            <a:srgbClr val="0912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9261" y="3423791"/>
            <a:ext cx="3905920" cy="230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Длительный Процесс Бронирования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99261" y="3736404"/>
            <a:ext cx="3697784" cy="7197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0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Бесконечное заполнение форм, сравнение опций и повторный ввод данных приводят к потере ценного времени, которое можно было бы потратить на планирование поездки.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2129"/>
            <a:ext cx="8417942" cy="421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Решение: Умный Поиск Отелей от HotelSearch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32805"/>
            <a:ext cx="8151763" cy="315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HotelSearch создан для того, чтобы превратить утомительный процесс поиска отелей в быстрое, прозрачное и приятное занятие. Мы предлагаем инновационные инструменты, которые устраняют все болевые точки путешественников: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96119" y="1577206"/>
            <a:ext cx="4018434" cy="1405830"/>
          </a:xfrm>
          <a:prstGeom prst="roundRect">
            <a:avLst>
              <a:gd name="adj" fmla="val 8168"/>
            </a:avLst>
          </a:prstGeom>
          <a:solidFill>
            <a:srgbClr val="09122B"/>
          </a:solidFill>
          <a:ln w="14288">
            <a:solidFill>
              <a:srgbClr val="4674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0406" y="1591494"/>
            <a:ext cx="3989859" cy="382712"/>
          </a:xfrm>
          <a:prstGeom prst="roundRect">
            <a:avLst>
              <a:gd name="adj" fmla="val 25525"/>
            </a:avLst>
          </a:prstGeom>
          <a:solidFill>
            <a:srgbClr val="4674E1">
              <a:alpha val="5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09676" y="1687116"/>
            <a:ext cx="191319" cy="1913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7952" y="2089026"/>
            <a:ext cx="3322737" cy="21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Все Предложения в Одном Месте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7952" y="2368376"/>
            <a:ext cx="3734767" cy="472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Мы агрегируем данные от сотен поставщиков и сайтов бронирования, предоставляя вам полный обзор доступных отелей и цен на одной платформе.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29373" y="1577206"/>
            <a:ext cx="4018508" cy="1405830"/>
          </a:xfrm>
          <a:prstGeom prst="roundRect">
            <a:avLst>
              <a:gd name="adj" fmla="val 8168"/>
            </a:avLst>
          </a:prstGeom>
          <a:solidFill>
            <a:srgbClr val="09122B"/>
          </a:solidFill>
          <a:ln w="14288">
            <a:solidFill>
              <a:srgbClr val="20387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43661" y="1591494"/>
            <a:ext cx="3989933" cy="382712"/>
          </a:xfrm>
          <a:prstGeom prst="roundRect">
            <a:avLst>
              <a:gd name="adj" fmla="val 25525"/>
            </a:avLst>
          </a:prstGeom>
          <a:solidFill>
            <a:srgbClr val="203876">
              <a:alpha val="50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2931" y="1687116"/>
            <a:ext cx="191319" cy="1913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71206" y="2089026"/>
            <a:ext cx="3640485" cy="21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Сравнение Цен в Реальном Времени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771206" y="2368376"/>
            <a:ext cx="3734842" cy="472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Наша система мгновенно сравнивает цены на выбранный отель на разных ресурсах, гарантируя, что вы всегда получите лучшее предложение без скрытых комиссий.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96119" y="3097857"/>
            <a:ext cx="4018434" cy="1563439"/>
          </a:xfrm>
          <a:prstGeom prst="roundRect">
            <a:avLst>
              <a:gd name="adj" fmla="val 7345"/>
            </a:avLst>
          </a:prstGeom>
          <a:solidFill>
            <a:srgbClr val="09122B"/>
          </a:solidFill>
          <a:ln w="14288">
            <a:solidFill>
              <a:srgbClr val="DCE6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10406" y="3112145"/>
            <a:ext cx="3989859" cy="382712"/>
          </a:xfrm>
          <a:prstGeom prst="roundRect">
            <a:avLst>
              <a:gd name="adj" fmla="val 25525"/>
            </a:avLst>
          </a:prstGeom>
          <a:solidFill>
            <a:srgbClr val="DCE6F8">
              <a:alpha val="5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09676" y="3207767"/>
            <a:ext cx="191319" cy="1913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7952" y="3609677"/>
            <a:ext cx="3022997" cy="21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Только Проверенные Отзывы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37952" y="3889028"/>
            <a:ext cx="3734767" cy="630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Мы собираем и верифицируем отзывы от реальных гостей, а также предоставляем детальную информацию и актуальные фотографии, чтобы вы могли принимать обоснованные решения.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629373" y="3097857"/>
            <a:ext cx="4018508" cy="1563439"/>
          </a:xfrm>
          <a:prstGeom prst="roundRect">
            <a:avLst>
              <a:gd name="adj" fmla="val 7345"/>
            </a:avLst>
          </a:prstGeom>
          <a:solidFill>
            <a:srgbClr val="09122B"/>
          </a:solidFill>
          <a:ln w="14288">
            <a:solidFill>
              <a:srgbClr val="FFFFF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643661" y="3112145"/>
            <a:ext cx="3989933" cy="382712"/>
          </a:xfrm>
          <a:prstGeom prst="roundRect">
            <a:avLst>
              <a:gd name="adj" fmla="val 25525"/>
            </a:avLst>
          </a:prstGeom>
          <a:solidFill>
            <a:srgbClr val="FFFFFF">
              <a:alpha val="50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2931" y="3207767"/>
            <a:ext cx="191319" cy="19131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71206" y="3609677"/>
            <a:ext cx="3288878" cy="21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Быстрое и Легкое Бронирование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771206" y="3889028"/>
            <a:ext cx="3734842" cy="630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Благодаря интуитивному интерфейсу и оптимизированному процессу оформления заказа, вы можете забронировать идеальный отель всего за несколько кликов.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8654" y="386953"/>
            <a:ext cx="8306693" cy="789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Целевая Аудитория: Кто Путешествует с HotelSearch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18654" y="1378148"/>
            <a:ext cx="8306693" cy="286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HotelSearch ориентирован на различные категории путешественников, предлагая индивидуальные решения для каждого сегмента. Мы понимаем уникальные потребности наших пользователей: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8654" y="1778124"/>
            <a:ext cx="4102894" cy="1438721"/>
          </a:xfrm>
          <a:prstGeom prst="roundRect">
            <a:avLst>
              <a:gd name="adj" fmla="val 7483"/>
            </a:avLst>
          </a:prstGeom>
          <a:solidFill>
            <a:srgbClr val="09122B"/>
          </a:solidFill>
          <a:ln w="14288">
            <a:solidFill>
              <a:srgbClr val="4674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2941" y="1792412"/>
            <a:ext cx="4074319" cy="358825"/>
          </a:xfrm>
          <a:prstGeom prst="roundRect">
            <a:avLst>
              <a:gd name="adj" fmla="val 25224"/>
            </a:avLst>
          </a:prstGeom>
          <a:solidFill>
            <a:srgbClr val="4674E1">
              <a:alpha val="5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80357" y="1882080"/>
            <a:ext cx="179412" cy="1794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2524" y="2252142"/>
            <a:ext cx="2664693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Деловые Путешественники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52524" y="2509986"/>
            <a:ext cx="3835152" cy="572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Потребности: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Быстрое бронирование, удобное расположение, надежный Wi-Fi, отчетность. </a:t>
            </a:r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Размер рынка: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Крупный, стабильный сегмент с высокой частотой поездок, ценящий эффективность.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622453" y="1778124"/>
            <a:ext cx="4102894" cy="1438721"/>
          </a:xfrm>
          <a:prstGeom prst="roundRect">
            <a:avLst>
              <a:gd name="adj" fmla="val 7483"/>
            </a:avLst>
          </a:prstGeom>
          <a:solidFill>
            <a:srgbClr val="09122B"/>
          </a:solidFill>
          <a:ln w="14288">
            <a:solidFill>
              <a:srgbClr val="20387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36740" y="1792412"/>
            <a:ext cx="4074319" cy="358825"/>
          </a:xfrm>
          <a:prstGeom prst="roundRect">
            <a:avLst>
              <a:gd name="adj" fmla="val 25224"/>
            </a:avLst>
          </a:prstGeom>
          <a:solidFill>
            <a:srgbClr val="203876">
              <a:alpha val="50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4156" y="1882080"/>
            <a:ext cx="179412" cy="1794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6324" y="2252142"/>
            <a:ext cx="2101900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Семьи с Детьми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756324" y="2509986"/>
            <a:ext cx="3835152" cy="572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Потребности: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Просторные номера, детские удобства, развлечения, безопасность, близость к аттракционам. </a:t>
            </a:r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Размер рынка: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Растущий сегмент, ищущий комфорт и семейные впечатления.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18654" y="3317751"/>
            <a:ext cx="4102894" cy="1438721"/>
          </a:xfrm>
          <a:prstGeom prst="roundRect">
            <a:avLst>
              <a:gd name="adj" fmla="val 7483"/>
            </a:avLst>
          </a:prstGeom>
          <a:solidFill>
            <a:srgbClr val="09122B"/>
          </a:solidFill>
          <a:ln w="14288">
            <a:solidFill>
              <a:srgbClr val="DCE6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32941" y="3332038"/>
            <a:ext cx="4074319" cy="358825"/>
          </a:xfrm>
          <a:prstGeom prst="roundRect">
            <a:avLst>
              <a:gd name="adj" fmla="val 25224"/>
            </a:avLst>
          </a:prstGeom>
          <a:solidFill>
            <a:srgbClr val="DCE6F8">
              <a:alpha val="5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80357" y="3421707"/>
            <a:ext cx="179412" cy="1794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2524" y="3791769"/>
            <a:ext cx="2101900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Молодые Туристы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52524" y="4049613"/>
            <a:ext cx="3835152" cy="572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Потребности: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Доступность, уникальный опыт, социальные активности, активное изучение города, сильный Wi-Fi. </a:t>
            </a:r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Размер рынка: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Динамичный, технологически подкованный и влиятельный сегмент.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622453" y="3317751"/>
            <a:ext cx="4102894" cy="1438721"/>
          </a:xfrm>
          <a:prstGeom prst="roundRect">
            <a:avLst>
              <a:gd name="adj" fmla="val 7483"/>
            </a:avLst>
          </a:prstGeom>
          <a:solidFill>
            <a:srgbClr val="09122B"/>
          </a:solidFill>
          <a:ln w="14288">
            <a:solidFill>
              <a:srgbClr val="FFFFF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636740" y="3332038"/>
            <a:ext cx="4074319" cy="358825"/>
          </a:xfrm>
          <a:prstGeom prst="roundRect">
            <a:avLst>
              <a:gd name="adj" fmla="val 25224"/>
            </a:avLst>
          </a:prstGeom>
          <a:solidFill>
            <a:srgbClr val="FFFFFF">
              <a:alpha val="50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84156" y="3421707"/>
            <a:ext cx="179412" cy="1794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56324" y="3791769"/>
            <a:ext cx="2101900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Пенсионеры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756324" y="4049613"/>
            <a:ext cx="3835152" cy="572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Потребности: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Комфорт, спокойствие, безбарьерная среда, специализированные туры, медицинская инфраструктура. </a:t>
            </a:r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Размер рынка: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Растущий сегмент с располагаемым доходом и временем для путешествий.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8654" y="340519"/>
            <a:ext cx="7237214" cy="394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Конкурентные Преимущества HotelSearch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18654" y="937022"/>
            <a:ext cx="8306693" cy="286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Наш сервис выделяется на фоне конкурентов благодаря ряду уникальных функций и подходов, которые обеспечивают путешественникам превосходный опыт поиска и бронирования отелей. Мы предлагаем: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8654" y="1336997"/>
            <a:ext cx="4102894" cy="1070000"/>
          </a:xfrm>
          <a:prstGeom prst="roundRect">
            <a:avLst>
              <a:gd name="adj" fmla="val 10061"/>
            </a:avLst>
          </a:prstGeom>
          <a:solidFill>
            <a:srgbClr val="4674E1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38237" y="1456581"/>
            <a:ext cx="2103090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Глубокая Агрегация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38237" y="1714426"/>
            <a:ext cx="3863727" cy="572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В отличие от </a:t>
            </a:r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Booking.com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или </a:t>
            </a:r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Agoda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, которые фокусируются на собственных предложениях, мы агрегируем данные из сотен источников, включая мелкие локальные платформы, чтобы предоставить максимально полный список вариантов.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22453" y="1336997"/>
            <a:ext cx="4102894" cy="1070000"/>
          </a:xfrm>
          <a:prstGeom prst="roundRect">
            <a:avLst>
              <a:gd name="adj" fmla="val 10061"/>
            </a:avLst>
          </a:prstGeom>
          <a:solidFill>
            <a:srgbClr val="203876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742036" y="1456581"/>
            <a:ext cx="3326532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Интеллектуальное Сравнение Цен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42036" y="1714426"/>
            <a:ext cx="3863727" cy="572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Наша система выходит за рамки простого сопоставления цен, как </a:t>
            </a:r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Trivago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. Мы анализируем скрытые сборы, курсы валют и спецпредложения, гарантируя </a:t>
            </a:r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наиболее выгодную конечную стоимость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в реальном времени.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8654" y="2507903"/>
            <a:ext cx="4102894" cy="1410593"/>
          </a:xfrm>
          <a:prstGeom prst="roundRect">
            <a:avLst>
              <a:gd name="adj" fmla="val 7632"/>
            </a:avLst>
          </a:prstGeom>
          <a:solidFill>
            <a:srgbClr val="DCE6F8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38237" y="2627486"/>
            <a:ext cx="3863727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Верифицированные Отзывы и Детальная Инфо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38237" y="3082677"/>
            <a:ext cx="3863727" cy="716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Мы используем передовые алгоритмы для верификации отзывов, отсекая фейковые и дублированные, а также предоставляем максимально актуальные фотографии и инфраструктурные данные, превосходя стандартные описания конкурентов.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22453" y="2507903"/>
            <a:ext cx="4102894" cy="1410593"/>
          </a:xfrm>
          <a:prstGeom prst="roundRect">
            <a:avLst>
              <a:gd name="adj" fmla="val 7632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742036" y="2627486"/>
            <a:ext cx="4132138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Оптимизированный Процесс Бронирования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42036" y="2885331"/>
            <a:ext cx="3863727" cy="572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Благодаря интуитивному UX/UI и минимальному количеству шагов, мы сокращаем время бронирования до рекордных значений, в отличие от многоэтапных форм на многих других платформах.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8654" y="4019401"/>
            <a:ext cx="8306693" cy="783506"/>
          </a:xfrm>
          <a:prstGeom prst="roundRect">
            <a:avLst>
              <a:gd name="adj" fmla="val 13740"/>
            </a:avLst>
          </a:prstGeom>
          <a:solidFill>
            <a:srgbClr val="5A6171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38237" y="4138985"/>
            <a:ext cx="4583534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Персонализированные Рекомендации на Базе ИИ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38237" y="4396829"/>
            <a:ext cx="8067526" cy="286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Наша AI-система обучается на ваших предпочтениях и истории поиска, предлагая по-настоящему индивидуальные варианты отелей, которые вы не найдете на общих платформах.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26579"/>
            <a:ext cx="4845323" cy="374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Требуемое Финансирование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96119" y="1282229"/>
            <a:ext cx="8151763" cy="2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8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Для ускорения роста и реализации стратегических инициатив HotelSearch ищет инвестиции в размере </a:t>
            </a:r>
            <a:pPr algn="l" indent="0" marL="0">
              <a:lnSpc>
                <a:spcPct val="97000"/>
              </a:lnSpc>
              <a:buNone/>
            </a:pPr>
            <a:r>
              <a:rPr lang="en-US" sz="850" b="1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5 миллионов долларов США</a:t>
            </a:r>
            <a:pPr algn="l" indent="0" marL="0">
              <a:lnSpc>
                <a:spcPct val="97000"/>
              </a:lnSpc>
              <a:buNone/>
            </a:pPr>
            <a:r>
              <a:rPr lang="en-US" sz="8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. Эти средства будут направлены на ключевые области развития.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96119" y="1819721"/>
            <a:ext cx="4030489" cy="1050801"/>
          </a:xfrm>
          <a:prstGeom prst="roundRect">
            <a:avLst>
              <a:gd name="adj" fmla="val 6526"/>
            </a:avLst>
          </a:prstGeom>
          <a:solidFill>
            <a:srgbClr val="09122B"/>
          </a:solidFill>
          <a:ln w="14288">
            <a:solidFill>
              <a:srgbClr val="4674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1805434"/>
            <a:ext cx="4030489" cy="57150"/>
          </a:xfrm>
          <a:prstGeom prst="roundRect">
            <a:avLst>
              <a:gd name="adj" fmla="val 178605"/>
            </a:avLst>
          </a:prstGeom>
          <a:solidFill>
            <a:srgbClr val="4674E1"/>
          </a:solidFill>
          <a:ln/>
        </p:spPr>
      </p:sp>
      <p:sp>
        <p:nvSpPr>
          <p:cNvPr id="6" name="Shape 4"/>
          <p:cNvSpPr/>
          <p:nvPr/>
        </p:nvSpPr>
        <p:spPr>
          <a:xfrm>
            <a:off x="2341215" y="1649611"/>
            <a:ext cx="340221" cy="340221"/>
          </a:xfrm>
          <a:prstGeom prst="roundRect">
            <a:avLst>
              <a:gd name="adj" fmla="val 167979"/>
            </a:avLst>
          </a:prstGeom>
          <a:solidFill>
            <a:srgbClr val="4674E1">
              <a:alpha val="5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43311" y="1751707"/>
            <a:ext cx="136029" cy="1360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3813" y="2103239"/>
            <a:ext cx="2487737" cy="187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Разработка Продукта и ИИ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3813" y="2344787"/>
            <a:ext cx="3775100" cy="2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8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Усиление команды R&amp;D для развития AI-алгоритмов персонализации и интеграции новых функций бронирования.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617318" y="1819721"/>
            <a:ext cx="4030563" cy="1050801"/>
          </a:xfrm>
          <a:prstGeom prst="roundRect">
            <a:avLst>
              <a:gd name="adj" fmla="val 6526"/>
            </a:avLst>
          </a:prstGeom>
          <a:solidFill>
            <a:srgbClr val="09122B"/>
          </a:solidFill>
          <a:ln w="14288">
            <a:solidFill>
              <a:srgbClr val="20387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7318" y="1805434"/>
            <a:ext cx="4030563" cy="57150"/>
          </a:xfrm>
          <a:prstGeom prst="roundRect">
            <a:avLst>
              <a:gd name="adj" fmla="val 178605"/>
            </a:avLst>
          </a:prstGeom>
          <a:solidFill>
            <a:srgbClr val="203876"/>
          </a:solidFill>
          <a:ln/>
        </p:spPr>
      </p:sp>
      <p:sp>
        <p:nvSpPr>
          <p:cNvPr id="12" name="Shape 9"/>
          <p:cNvSpPr/>
          <p:nvPr/>
        </p:nvSpPr>
        <p:spPr>
          <a:xfrm>
            <a:off x="6462489" y="1649611"/>
            <a:ext cx="340221" cy="340221"/>
          </a:xfrm>
          <a:prstGeom prst="roundRect">
            <a:avLst>
              <a:gd name="adj" fmla="val 167979"/>
            </a:avLst>
          </a:prstGeom>
          <a:solidFill>
            <a:srgbClr val="203876">
              <a:alpha val="50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4585" y="1751707"/>
            <a:ext cx="136029" cy="13602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45013" y="2103239"/>
            <a:ext cx="2335932" cy="187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Масштабный Маркетинг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745013" y="2344787"/>
            <a:ext cx="3775174" cy="398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8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Запуск глобальных маркетинговых кампаний для привлечения пользователей на новых рынках и повышения узнаваемости бренда.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496119" y="3131344"/>
            <a:ext cx="4030489" cy="918121"/>
          </a:xfrm>
          <a:prstGeom prst="roundRect">
            <a:avLst>
              <a:gd name="adj" fmla="val 7470"/>
            </a:avLst>
          </a:prstGeom>
          <a:solidFill>
            <a:srgbClr val="09122B"/>
          </a:solidFill>
          <a:ln w="14288">
            <a:solidFill>
              <a:srgbClr val="DCE6F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6119" y="3117056"/>
            <a:ext cx="4030489" cy="57150"/>
          </a:xfrm>
          <a:prstGeom prst="roundRect">
            <a:avLst>
              <a:gd name="adj" fmla="val 178605"/>
            </a:avLst>
          </a:prstGeom>
          <a:solidFill>
            <a:srgbClr val="DCE6F8"/>
          </a:solidFill>
          <a:ln/>
        </p:spPr>
      </p:sp>
      <p:sp>
        <p:nvSpPr>
          <p:cNvPr id="18" name="Shape 14"/>
          <p:cNvSpPr/>
          <p:nvPr/>
        </p:nvSpPr>
        <p:spPr>
          <a:xfrm>
            <a:off x="2341215" y="2961233"/>
            <a:ext cx="340221" cy="340221"/>
          </a:xfrm>
          <a:prstGeom prst="roundRect">
            <a:avLst>
              <a:gd name="adj" fmla="val 167979"/>
            </a:avLst>
          </a:prstGeom>
          <a:solidFill>
            <a:srgbClr val="DCE6F8">
              <a:alpha val="50000"/>
            </a:srgbClr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43311" y="3063329"/>
            <a:ext cx="136029" cy="13602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3813" y="3414861"/>
            <a:ext cx="2155775" cy="187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Расширение Команды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23813" y="3656409"/>
            <a:ext cx="3775100" cy="2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8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Наем высококвалифицированных специалистов в области разработки, маркетинга и клиентской поддержки.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617318" y="3131344"/>
            <a:ext cx="4030563" cy="918121"/>
          </a:xfrm>
          <a:prstGeom prst="roundRect">
            <a:avLst>
              <a:gd name="adj" fmla="val 7470"/>
            </a:avLst>
          </a:prstGeom>
          <a:solidFill>
            <a:srgbClr val="09122B"/>
          </a:solidFill>
          <a:ln w="14288">
            <a:solidFill>
              <a:srgbClr val="FFFFF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617318" y="3117056"/>
            <a:ext cx="4030563" cy="57150"/>
          </a:xfrm>
          <a:prstGeom prst="roundRect">
            <a:avLst>
              <a:gd name="adj" fmla="val 178605"/>
            </a:avLst>
          </a:prstGeom>
          <a:solidFill>
            <a:srgbClr val="FFFFFF"/>
          </a:solidFill>
          <a:ln/>
        </p:spPr>
      </p:sp>
      <p:sp>
        <p:nvSpPr>
          <p:cNvPr id="24" name="Shape 19"/>
          <p:cNvSpPr/>
          <p:nvPr/>
        </p:nvSpPr>
        <p:spPr>
          <a:xfrm>
            <a:off x="6462489" y="2961233"/>
            <a:ext cx="340221" cy="340221"/>
          </a:xfrm>
          <a:prstGeom prst="roundRect">
            <a:avLst>
              <a:gd name="adj" fmla="val 167979"/>
            </a:avLst>
          </a:prstGeom>
          <a:solidFill>
            <a:srgbClr val="FFFFFF">
              <a:alpha val="50000"/>
            </a:srgbClr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64585" y="3063329"/>
            <a:ext cx="136029" cy="136029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745013" y="3414861"/>
            <a:ext cx="2930575" cy="187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Инфраструктура и Оптимизация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745013" y="3656409"/>
            <a:ext cx="3775174" cy="2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8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Модернизация серверной инфраструктуры для обеспечения бесперебойной работы и масштабируемости платформы.</a:t>
            </a:r>
            <a:endParaRPr lang="en-US" sz="850" dirty="0"/>
          </a:p>
        </p:txBody>
      </p:sp>
      <p:sp>
        <p:nvSpPr>
          <p:cNvPr id="28" name="Text 22"/>
          <p:cNvSpPr/>
          <p:nvPr/>
        </p:nvSpPr>
        <p:spPr>
          <a:xfrm>
            <a:off x="496119" y="4151486"/>
            <a:ext cx="8151763" cy="2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8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Мы прогнозируем возврат инвестиций в размере </a:t>
            </a:r>
            <a:pPr algn="l" indent="0" marL="0">
              <a:lnSpc>
                <a:spcPct val="97000"/>
              </a:lnSpc>
              <a:buNone/>
            </a:pPr>
            <a:r>
              <a:rPr lang="en-US" sz="850" b="1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150% в течение 3 лет</a:t>
            </a:r>
            <a:pPr algn="l" indent="0" marL="0">
              <a:lnSpc>
                <a:spcPct val="97000"/>
              </a:lnSpc>
              <a:buNone/>
            </a:pPr>
            <a:r>
              <a:rPr lang="en-US" sz="8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благодаря экспоненциальному росту пользовательской базы и увеличению среднего чека.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8654" y="365075"/>
            <a:ext cx="5430069" cy="394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Риски и Стратегия Управления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18654" y="961579"/>
            <a:ext cx="8306693" cy="286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HotelSearch активно идентифицирует потенциальные риски и разрабатывает стратегии для их минимизации, обеспечивая стабильность и устойчивое развитие платформы в динамичной рыночной среде.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8654" y="1540966"/>
            <a:ext cx="4102894" cy="1406947"/>
          </a:xfrm>
          <a:prstGeom prst="roundRect">
            <a:avLst>
              <a:gd name="adj" fmla="val 4874"/>
            </a:avLst>
          </a:prstGeom>
          <a:solidFill>
            <a:srgbClr val="09122B"/>
          </a:solidFill>
          <a:ln w="14288">
            <a:solidFill>
              <a:srgbClr val="4674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8654" y="1526679"/>
            <a:ext cx="4102894" cy="57150"/>
          </a:xfrm>
          <a:prstGeom prst="roundRect">
            <a:avLst>
              <a:gd name="adj" fmla="val 188372"/>
            </a:avLst>
          </a:prstGeom>
          <a:solidFill>
            <a:srgbClr val="4674E1"/>
          </a:solidFill>
          <a:ln/>
        </p:spPr>
      </p:sp>
      <p:sp>
        <p:nvSpPr>
          <p:cNvPr id="6" name="Shape 4"/>
          <p:cNvSpPr/>
          <p:nvPr/>
        </p:nvSpPr>
        <p:spPr>
          <a:xfrm>
            <a:off x="2290688" y="1361554"/>
            <a:ext cx="358825" cy="358825"/>
          </a:xfrm>
          <a:prstGeom prst="roundRect">
            <a:avLst>
              <a:gd name="adj" fmla="val 159270"/>
            </a:avLst>
          </a:prstGeom>
          <a:solidFill>
            <a:srgbClr val="4674E1">
              <a:alpha val="5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98365" y="1469231"/>
            <a:ext cx="143470" cy="14347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52524" y="1839962"/>
            <a:ext cx="2309887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Конкуренция на рынке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52524" y="2097807"/>
            <a:ext cx="3835152" cy="716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Интенсивная конкуренция с крупными игроками и новыми стартапами. </a:t>
            </a:r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Стратегия: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Непрерывное внедрение инноваций, улучшение алгоритмов персонализации, расширение уникального контента и услуг, а также агрессивные маркетинговые кампании для укрепления бренда.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622453" y="1540966"/>
            <a:ext cx="4102894" cy="1406947"/>
          </a:xfrm>
          <a:prstGeom prst="roundRect">
            <a:avLst>
              <a:gd name="adj" fmla="val 4874"/>
            </a:avLst>
          </a:prstGeom>
          <a:solidFill>
            <a:srgbClr val="09122B"/>
          </a:solidFill>
          <a:ln w="14288">
            <a:solidFill>
              <a:srgbClr val="20387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2453" y="1526679"/>
            <a:ext cx="4102894" cy="57150"/>
          </a:xfrm>
          <a:prstGeom prst="roundRect">
            <a:avLst>
              <a:gd name="adj" fmla="val 188372"/>
            </a:avLst>
          </a:prstGeom>
          <a:solidFill>
            <a:srgbClr val="203876"/>
          </a:solidFill>
          <a:ln/>
        </p:spPr>
      </p:sp>
      <p:sp>
        <p:nvSpPr>
          <p:cNvPr id="12" name="Shape 9"/>
          <p:cNvSpPr/>
          <p:nvPr/>
        </p:nvSpPr>
        <p:spPr>
          <a:xfrm>
            <a:off x="6494487" y="1361554"/>
            <a:ext cx="358825" cy="358825"/>
          </a:xfrm>
          <a:prstGeom prst="roundRect">
            <a:avLst>
              <a:gd name="adj" fmla="val 159270"/>
            </a:avLst>
          </a:prstGeom>
          <a:solidFill>
            <a:srgbClr val="203876">
              <a:alpha val="50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2164" y="1469231"/>
            <a:ext cx="143470" cy="14347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56324" y="1839962"/>
            <a:ext cx="2520553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Регуляторные изменения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756324" y="2097807"/>
            <a:ext cx="3835152" cy="716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Потенциальные изменения в законодательстве о защите данных (например, GDPR) или в туристической индустрии. </a:t>
            </a:r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Стратегия: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Проактивный мониторинг правовой среды, наличие специализированного юридического отдела и адаптивная архитектура платформы для быстрого внедрения изменений.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18654" y="3228231"/>
            <a:ext cx="4102894" cy="1550194"/>
          </a:xfrm>
          <a:prstGeom prst="roundRect">
            <a:avLst>
              <a:gd name="adj" fmla="val 4424"/>
            </a:avLst>
          </a:prstGeom>
          <a:solidFill>
            <a:srgbClr val="09122B"/>
          </a:solidFill>
          <a:ln w="14288">
            <a:solidFill>
              <a:srgbClr val="DCE6F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18654" y="3213943"/>
            <a:ext cx="4102894" cy="57150"/>
          </a:xfrm>
          <a:prstGeom prst="roundRect">
            <a:avLst>
              <a:gd name="adj" fmla="val 188372"/>
            </a:avLst>
          </a:prstGeom>
          <a:solidFill>
            <a:srgbClr val="DCE6F8"/>
          </a:solidFill>
          <a:ln/>
        </p:spPr>
      </p:sp>
      <p:sp>
        <p:nvSpPr>
          <p:cNvPr id="18" name="Shape 14"/>
          <p:cNvSpPr/>
          <p:nvPr/>
        </p:nvSpPr>
        <p:spPr>
          <a:xfrm>
            <a:off x="2290688" y="3048819"/>
            <a:ext cx="358825" cy="358825"/>
          </a:xfrm>
          <a:prstGeom prst="roundRect">
            <a:avLst>
              <a:gd name="adj" fmla="val 159270"/>
            </a:avLst>
          </a:prstGeom>
          <a:solidFill>
            <a:srgbClr val="DCE6F8">
              <a:alpha val="50000"/>
            </a:srgbClr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98365" y="3156496"/>
            <a:ext cx="143470" cy="14347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52524" y="3527227"/>
            <a:ext cx="3673227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Технические сбои и кибербезопасность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52524" y="3785071"/>
            <a:ext cx="3835152" cy="8594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Риск сбоев в работе сервиса, потери данных или кибератак, что может подорвать доверие пользователей. </a:t>
            </a:r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Стратегия: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Развитие надежной облачной инфраструктуры, регулярные аудиты безопасности, резервное копирование данных, круглосуточный мониторинг и наличие команды быстрого реагирования на инциденты.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4622453" y="3228231"/>
            <a:ext cx="4102894" cy="1550194"/>
          </a:xfrm>
          <a:prstGeom prst="roundRect">
            <a:avLst>
              <a:gd name="adj" fmla="val 4424"/>
            </a:avLst>
          </a:prstGeom>
          <a:solidFill>
            <a:srgbClr val="09122B"/>
          </a:solidFill>
          <a:ln w="14288">
            <a:solidFill>
              <a:srgbClr val="FFFFF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622453" y="3213943"/>
            <a:ext cx="4102894" cy="57150"/>
          </a:xfrm>
          <a:prstGeom prst="roundRect">
            <a:avLst>
              <a:gd name="adj" fmla="val 188372"/>
            </a:avLst>
          </a:prstGeom>
          <a:solidFill>
            <a:srgbClr val="FFFFFF"/>
          </a:solidFill>
          <a:ln/>
        </p:spPr>
      </p:sp>
      <p:sp>
        <p:nvSpPr>
          <p:cNvPr id="24" name="Shape 19"/>
          <p:cNvSpPr/>
          <p:nvPr/>
        </p:nvSpPr>
        <p:spPr>
          <a:xfrm>
            <a:off x="6494487" y="3048819"/>
            <a:ext cx="358825" cy="358825"/>
          </a:xfrm>
          <a:prstGeom prst="roundRect">
            <a:avLst>
              <a:gd name="adj" fmla="val 159270"/>
            </a:avLst>
          </a:prstGeom>
          <a:solidFill>
            <a:srgbClr val="FFFFFF">
              <a:alpha val="50000"/>
            </a:srgbClr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2164" y="3156496"/>
            <a:ext cx="143470" cy="14347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756324" y="3527227"/>
            <a:ext cx="2620194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Зависимость от партнеров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4756324" y="3785071"/>
            <a:ext cx="3835152" cy="716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Зависимость от отелей, авиакомпаний и платежных систем для предоставления услуг. </a:t>
            </a:r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Стратегия: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Диверсификация партнерской базы, построение долгосрочных отношений, а также исследование возможностей для интеграции собственных решений и прямых контрактов.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2026-05-18T16:32:58Z</dcterms:created>
  <dcterms:modified xsi:type="dcterms:W3CDTF">2026-05-18T16:32:58Z</dcterms:modified>
</cp:coreProperties>
</file>