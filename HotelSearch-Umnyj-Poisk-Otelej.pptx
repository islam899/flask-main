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7"/>
      <p:bold r:id="rId8"/>
      <p:italic r:id="rId9"/>
      <p:boldItalic r:id="rId10"/>
    </p:embeddedFont>
    <p:embeddedFont>
      <p:font typeface="Schibsted Grotesk" panose="020B0604020202020204" charset="0"/>
      <p:regular r:id="rId1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6088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CE6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12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69" y="2116410"/>
            <a:ext cx="6907188" cy="46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0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HotelSearch - Умный Поиск Отелей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67519" y="2796778"/>
            <a:ext cx="8380363" cy="23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Инновационная платформа для поиска и бронирования отелей по всему миру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8379" y="528786"/>
            <a:ext cx="6652915" cy="460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Проблема: Хаос в Поиске Отелей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88379" y="1263997"/>
            <a:ext cx="8167241" cy="3598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Современный процесс бронирования отелей часто превращается в утомительное испытание, отнимающее время и нервы. Мы выявили ключевые сложности, с которыми сталкиваются путешественники: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88379" y="1778347"/>
            <a:ext cx="4014936" cy="1349499"/>
          </a:xfrm>
          <a:prstGeom prst="roundRect">
            <a:avLst>
              <a:gd name="adj" fmla="val 9307"/>
            </a:avLst>
          </a:prstGeom>
          <a:solidFill>
            <a:srgbClr val="09122B"/>
          </a:solidFill>
          <a:ln w="19050">
            <a:solidFill>
              <a:srgbClr val="4674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6956" y="1936924"/>
            <a:ext cx="3077245" cy="230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Фрагментированный Поиск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6956" y="2249537"/>
            <a:ext cx="3697784" cy="5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Сотни сайтов, тысячи предложений – поиск идеального отеля требует посещения десятков платформ, что усложняет сравнение и выбор.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40684" y="1778347"/>
            <a:ext cx="4014936" cy="1349499"/>
          </a:xfrm>
          <a:prstGeom prst="roundRect">
            <a:avLst>
              <a:gd name="adj" fmla="val 9307"/>
            </a:avLst>
          </a:prstGeom>
          <a:solidFill>
            <a:srgbClr val="09122B"/>
          </a:solidFill>
          <a:ln w="19050">
            <a:solidFill>
              <a:srgbClr val="2038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99261" y="1936924"/>
            <a:ext cx="2442716" cy="230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Непрозрачность Цен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99261" y="2249537"/>
            <a:ext cx="3697784" cy="7197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Цены на один и тот же номер могут значительно отличаться на разных сервисах, и найти лучшее предложение без детального анализа почти невозможно.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8379" y="3265215"/>
            <a:ext cx="4014936" cy="1349499"/>
          </a:xfrm>
          <a:prstGeom prst="roundRect">
            <a:avLst>
              <a:gd name="adj" fmla="val 9307"/>
            </a:avLst>
          </a:prstGeom>
          <a:solidFill>
            <a:srgbClr val="09122B"/>
          </a:solidFill>
          <a:ln w="19050">
            <a:solidFill>
              <a:srgbClr val="DCE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956" y="3423791"/>
            <a:ext cx="4109740" cy="230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Недостаток Достоверной Информации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956" y="3736404"/>
            <a:ext cx="3697784" cy="7197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Часто описания и фотографии отелей не соответствуют действительности, а отзывы разрознены и не всегда объективны, что затрудняет принятие решения.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40684" y="3265215"/>
            <a:ext cx="4014936" cy="1349499"/>
          </a:xfrm>
          <a:prstGeom prst="roundRect">
            <a:avLst>
              <a:gd name="adj" fmla="val 9307"/>
            </a:avLst>
          </a:prstGeom>
          <a:solidFill>
            <a:srgbClr val="0912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99261" y="3423791"/>
            <a:ext cx="3905920" cy="230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Длительный Процесс Бронирования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99261" y="3736404"/>
            <a:ext cx="3697784" cy="7197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Бесконечное заполнение форм, сравнение опций и повторный ввод данных приводят к потере ценного времени, которое можно было бы потратить на планирование поездки.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82129"/>
            <a:ext cx="8417942" cy="42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Решение: Умный Поиск Отелей от HotelSearch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132805"/>
            <a:ext cx="8151763" cy="315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0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HotelSearch создан для того, чтобы превратить утомительный процесс поиска отелей в быстрое, прозрачное и приятное занятие. Мы предлагаем инновационные инструменты, которые устраняют все болевые точки путешественников: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96119" y="1577206"/>
            <a:ext cx="4018434" cy="1405830"/>
          </a:xfrm>
          <a:prstGeom prst="roundRect">
            <a:avLst>
              <a:gd name="adj" fmla="val 8168"/>
            </a:avLst>
          </a:prstGeom>
          <a:solidFill>
            <a:srgbClr val="09122B"/>
          </a:solidFill>
          <a:ln w="14288">
            <a:solidFill>
              <a:srgbClr val="4674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0406" y="1591494"/>
            <a:ext cx="3989859" cy="382712"/>
          </a:xfrm>
          <a:prstGeom prst="roundRect">
            <a:avLst>
              <a:gd name="adj" fmla="val 25525"/>
            </a:avLst>
          </a:prstGeom>
          <a:solidFill>
            <a:srgbClr val="4674E1">
              <a:alpha val="50000"/>
            </a:srgbClr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09676" y="1687116"/>
            <a:ext cx="191319" cy="1913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7952" y="2089026"/>
            <a:ext cx="3322737" cy="210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Все Предложения в Одном Месте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37952" y="2368376"/>
            <a:ext cx="3734767" cy="472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0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Мы агрегируем данные от сотен поставщиков и сайтов бронирования, предоставляя вам полный обзор доступных отелей и цен на одной платформе.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29373" y="1577206"/>
            <a:ext cx="4018508" cy="1405830"/>
          </a:xfrm>
          <a:prstGeom prst="roundRect">
            <a:avLst>
              <a:gd name="adj" fmla="val 8168"/>
            </a:avLst>
          </a:prstGeom>
          <a:solidFill>
            <a:srgbClr val="09122B"/>
          </a:solidFill>
          <a:ln w="14288">
            <a:solidFill>
              <a:srgbClr val="20387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43661" y="1591494"/>
            <a:ext cx="3989933" cy="382712"/>
          </a:xfrm>
          <a:prstGeom prst="roundRect">
            <a:avLst>
              <a:gd name="adj" fmla="val 25525"/>
            </a:avLst>
          </a:prstGeom>
          <a:solidFill>
            <a:srgbClr val="203876">
              <a:alpha val="50000"/>
            </a:srgbClr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42931" y="1687116"/>
            <a:ext cx="191319" cy="1913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71206" y="2089026"/>
            <a:ext cx="3640485" cy="210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Сравнение Цен в Реальном Времени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771206" y="2368376"/>
            <a:ext cx="3734842" cy="472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0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Наша система мгновенно сравнивает цены на выбранный отель на разных ресурсах, гарантируя, что вы всегда получите лучшее предложение без скрытых комиссий.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96119" y="3097857"/>
            <a:ext cx="4018434" cy="1563439"/>
          </a:xfrm>
          <a:prstGeom prst="roundRect">
            <a:avLst>
              <a:gd name="adj" fmla="val 7345"/>
            </a:avLst>
          </a:prstGeom>
          <a:solidFill>
            <a:srgbClr val="09122B"/>
          </a:solidFill>
          <a:ln w="14288">
            <a:solidFill>
              <a:srgbClr val="DCE6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10406" y="3112145"/>
            <a:ext cx="3989859" cy="382712"/>
          </a:xfrm>
          <a:prstGeom prst="roundRect">
            <a:avLst>
              <a:gd name="adj" fmla="val 25525"/>
            </a:avLst>
          </a:prstGeom>
          <a:solidFill>
            <a:srgbClr val="DCE6F8">
              <a:alpha val="50000"/>
            </a:srgbClr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09676" y="3207767"/>
            <a:ext cx="191319" cy="19131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7952" y="3609677"/>
            <a:ext cx="3022997" cy="210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Только Проверенные Отзывы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37952" y="3889028"/>
            <a:ext cx="3734767" cy="630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0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Мы собираем и верифицируем отзывы от реальных гостей, а также предоставляем детальную информацию и актуальные фотографии, чтобы вы могли принимать обоснованные решения.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629373" y="3097857"/>
            <a:ext cx="4018508" cy="1563439"/>
          </a:xfrm>
          <a:prstGeom prst="roundRect">
            <a:avLst>
              <a:gd name="adj" fmla="val 7345"/>
            </a:avLst>
          </a:prstGeom>
          <a:solidFill>
            <a:srgbClr val="09122B"/>
          </a:solidFill>
          <a:ln w="14288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43661" y="3112145"/>
            <a:ext cx="3989933" cy="382712"/>
          </a:xfrm>
          <a:prstGeom prst="roundRect">
            <a:avLst>
              <a:gd name="adj" fmla="val 25525"/>
            </a:avLst>
          </a:prstGeom>
          <a:solidFill>
            <a:srgbClr val="FFFFFF">
              <a:alpha val="50000"/>
            </a:srgbClr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42931" y="3207767"/>
            <a:ext cx="191319" cy="19131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771206" y="3609677"/>
            <a:ext cx="3288878" cy="210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Быстрое и Легкое Бронирование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771206" y="3889028"/>
            <a:ext cx="3734842" cy="630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0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Благодаря интуитивному интерфейсу и оптимизированному процессу оформления заказа, вы можете забронировать идеальный отель всего за несколько кликов.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8654" y="386953"/>
            <a:ext cx="8306693" cy="78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Целевая Аудитория: Кто Путешествует с HotelSearch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18654" y="1378148"/>
            <a:ext cx="8306693" cy="286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HotelSearch ориентирован на различные категории путешественников, предлагая индивидуальные решения для каждого сегмента. Мы понимаем уникальные потребности наших пользователей: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8654" y="1778124"/>
            <a:ext cx="4102894" cy="1438721"/>
          </a:xfrm>
          <a:prstGeom prst="roundRect">
            <a:avLst>
              <a:gd name="adj" fmla="val 7483"/>
            </a:avLst>
          </a:prstGeom>
          <a:solidFill>
            <a:srgbClr val="09122B"/>
          </a:solidFill>
          <a:ln w="14288">
            <a:solidFill>
              <a:srgbClr val="4674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2941" y="1792412"/>
            <a:ext cx="4074319" cy="358825"/>
          </a:xfrm>
          <a:prstGeom prst="roundRect">
            <a:avLst>
              <a:gd name="adj" fmla="val 25224"/>
            </a:avLst>
          </a:prstGeom>
          <a:solidFill>
            <a:srgbClr val="4674E1">
              <a:alpha val="50000"/>
            </a:srgbClr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0357" y="1882080"/>
            <a:ext cx="179412" cy="1794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2524" y="2252142"/>
            <a:ext cx="2664693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Деловые Путешественники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52524" y="2509986"/>
            <a:ext cx="3835152" cy="572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Потребности: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Быстрое бронирование, удобное расположение, надежный Wi-Fi, отчетность. </a:t>
            </a: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Размер рынка: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Крупный, стабильный сегмент с высокой частотой поездок, ценящий эффективность.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22453" y="1778124"/>
            <a:ext cx="4102894" cy="1438721"/>
          </a:xfrm>
          <a:prstGeom prst="roundRect">
            <a:avLst>
              <a:gd name="adj" fmla="val 7483"/>
            </a:avLst>
          </a:prstGeom>
          <a:solidFill>
            <a:srgbClr val="09122B"/>
          </a:solidFill>
          <a:ln w="14288">
            <a:solidFill>
              <a:srgbClr val="20387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36740" y="1792412"/>
            <a:ext cx="4074319" cy="358825"/>
          </a:xfrm>
          <a:prstGeom prst="roundRect">
            <a:avLst>
              <a:gd name="adj" fmla="val 25224"/>
            </a:avLst>
          </a:prstGeom>
          <a:solidFill>
            <a:srgbClr val="203876">
              <a:alpha val="50000"/>
            </a:srgbClr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4156" y="1882080"/>
            <a:ext cx="179412" cy="1794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6324" y="2252142"/>
            <a:ext cx="2101900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Семьи с Детьми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756324" y="2509986"/>
            <a:ext cx="3835152" cy="572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Потребности: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Просторные номера, детские удобства, развлечения, безопасность, близость к аттракционам. </a:t>
            </a: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Размер рынка: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Растущий сегмент, ищущий комфорт и семейные впечатления.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18654" y="3317751"/>
            <a:ext cx="4102894" cy="1438721"/>
          </a:xfrm>
          <a:prstGeom prst="roundRect">
            <a:avLst>
              <a:gd name="adj" fmla="val 7483"/>
            </a:avLst>
          </a:prstGeom>
          <a:solidFill>
            <a:srgbClr val="09122B"/>
          </a:solidFill>
          <a:ln w="14288">
            <a:solidFill>
              <a:srgbClr val="DCE6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2941" y="3332038"/>
            <a:ext cx="4074319" cy="358825"/>
          </a:xfrm>
          <a:prstGeom prst="roundRect">
            <a:avLst>
              <a:gd name="adj" fmla="val 25224"/>
            </a:avLst>
          </a:prstGeom>
          <a:solidFill>
            <a:srgbClr val="DCE6F8">
              <a:alpha val="50000"/>
            </a:srgbClr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80357" y="3421707"/>
            <a:ext cx="179412" cy="1794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52524" y="3791769"/>
            <a:ext cx="2101900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Молодые Туристы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52524" y="4049613"/>
            <a:ext cx="3835152" cy="572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Потребности: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Доступность, уникальный опыт, социальные активности, активное изучение города, сильный Wi-Fi. </a:t>
            </a: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Размер рынка: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Динамичный, технологически подкованный и влиятельный сегмент.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622453" y="3317751"/>
            <a:ext cx="4102894" cy="1438721"/>
          </a:xfrm>
          <a:prstGeom prst="roundRect">
            <a:avLst>
              <a:gd name="adj" fmla="val 7483"/>
            </a:avLst>
          </a:prstGeom>
          <a:solidFill>
            <a:srgbClr val="09122B"/>
          </a:solidFill>
          <a:ln w="14288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36740" y="3332038"/>
            <a:ext cx="4074319" cy="358825"/>
          </a:xfrm>
          <a:prstGeom prst="roundRect">
            <a:avLst>
              <a:gd name="adj" fmla="val 25224"/>
            </a:avLst>
          </a:prstGeom>
          <a:solidFill>
            <a:srgbClr val="FFFFFF">
              <a:alpha val="50000"/>
            </a:srgbClr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4156" y="3421707"/>
            <a:ext cx="179412" cy="1794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756324" y="3791769"/>
            <a:ext cx="2101900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Пенсионеры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4756324" y="4049613"/>
            <a:ext cx="3835152" cy="572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Потребности: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Комфорт, спокойствие, безбарьерная среда, специализированные туры, медицинская инфраструктура. </a:t>
            </a:r>
            <a:r>
              <a:rPr lang="en-US" sz="900" b="1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Размер рынка:</a:t>
            </a:r>
            <a:r>
              <a:rPr lang="en-US" sz="900" dirty="0">
                <a:solidFill>
                  <a:srgbClr val="DCE6F8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Растущий сегмент с располагаемым доходом и временем для путешествий.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Экран (16:9)</PresentationFormat>
  <Paragraphs>36</Paragraphs>
  <Slides>4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Calibri</vt:lpstr>
      <vt:lpstr>Schibsted Grotesk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User</cp:lastModifiedBy>
  <cp:revision>2</cp:revision>
  <dcterms:created xsi:type="dcterms:W3CDTF">2026-05-18T16:32:58Z</dcterms:created>
  <dcterms:modified xsi:type="dcterms:W3CDTF">2026-05-19T13:09:03Z</dcterms:modified>
</cp:coreProperties>
</file>